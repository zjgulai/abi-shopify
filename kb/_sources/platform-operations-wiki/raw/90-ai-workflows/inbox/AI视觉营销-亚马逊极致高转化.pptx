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7894" r:id="rId3"/>
    <p:sldId id="7972" r:id="rId5"/>
    <p:sldId id="2258" r:id="rId6"/>
    <p:sldId id="7947" r:id="rId7"/>
    <p:sldId id="7948" r:id="rId8"/>
    <p:sldId id="7949" r:id="rId9"/>
    <p:sldId id="7950" r:id="rId10"/>
    <p:sldId id="7951" r:id="rId11"/>
    <p:sldId id="7957" r:id="rId12"/>
    <p:sldId id="7895" r:id="rId13"/>
    <p:sldId id="7958" r:id="rId14"/>
    <p:sldId id="79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0460"/>
    <a:srgbClr val="2B0960"/>
    <a:srgbClr val="400D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48"/>
    <p:restoredTop sz="95496"/>
  </p:normalViewPr>
  <p:slideViewPr>
    <p:cSldViewPr snapToGrid="0" snapToObjects="1">
      <p:cViewPr varScale="1">
        <p:scale>
          <a:sx n="108" d="100"/>
          <a:sy n="108" d="100"/>
        </p:scale>
        <p:origin x="3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4DB53-EF98-184E-B7D8-1B023BF62D20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循序渐进</a:t>
            </a:r>
            <a:r>
              <a:rPr lang="zh-CN" altLang="en-US" dirty="0"/>
              <a:t>，从流量师思维 </a:t>
            </a:r>
            <a:r>
              <a:rPr lang="en-US" altLang="zh-CN" dirty="0"/>
              <a:t>–</a:t>
            </a:r>
            <a:r>
              <a:rPr lang="zh-CN" altLang="en-US" dirty="0"/>
              <a:t> 理解站外流量底层逻辑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11975-FC1B-AF43-A43A-739460EC5B9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循序渐进</a:t>
            </a:r>
            <a:r>
              <a:rPr lang="zh-CN" altLang="en-US" dirty="0"/>
              <a:t>，从流量师思维 </a:t>
            </a:r>
            <a:r>
              <a:rPr lang="en-US" altLang="zh-CN" dirty="0"/>
              <a:t>–</a:t>
            </a:r>
            <a:r>
              <a:rPr lang="zh-CN" altLang="en-US" dirty="0"/>
              <a:t> 理解站外流量底层逻辑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11975-FC1B-AF43-A43A-739460EC5B9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zh-CN" altLang="en-US" dirty="0"/>
              <a:t>以产品为维度建立</a:t>
            </a:r>
            <a:r>
              <a:rPr lang="en-US" dirty="0"/>
              <a:t>GTM</a:t>
            </a:r>
            <a:r>
              <a:rPr lang="zh-CN" altLang="en-US" dirty="0"/>
              <a:t>模式。除了以销售端赋能导向，增设品牌私域运营，溢价打造部分。形成清晰的产品线或解决方案，而不再是孤立的爆款，把虚无的品牌感，变成实实在在的复利资产</a:t>
            </a:r>
            <a:endParaRPr lang="zh-CN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black background with pink tex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3978" y="171738"/>
            <a:ext cx="1418364" cy="437884"/>
          </a:xfrm>
          <a:prstGeom prst="rect">
            <a:avLst/>
          </a:prstGeom>
        </p:spPr>
      </p:pic>
      <p:sp>
        <p:nvSpPr>
          <p:cNvPr id="13" name="Title 1"/>
          <p:cNvSpPr txBox="1"/>
          <p:nvPr/>
        </p:nvSpPr>
        <p:spPr>
          <a:xfrm>
            <a:off x="3127128" y="0"/>
            <a:ext cx="7358294" cy="781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线下课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亚马逊视觉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增长实战课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Wynn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Content Placeholder 2"/>
          <p:cNvSpPr txBox="1"/>
          <p:nvPr/>
        </p:nvSpPr>
        <p:spPr>
          <a:xfrm>
            <a:off x="2798445" y="595630"/>
            <a:ext cx="9009380" cy="597471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CN" altLang="en-US" sz="2000" b="1" kern="100" dirty="0">
                <a:solidFill>
                  <a:schemeClr val="bg1"/>
                </a:solidFill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讲师背景：</a:t>
            </a:r>
            <a:r>
              <a:rPr lang="en-US" altLang="zh-CN" sz="2000" b="1" kern="100" dirty="0">
                <a:solidFill>
                  <a:schemeClr val="bg1"/>
                </a:solidFill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Wynn</a:t>
            </a:r>
            <a:endParaRPr lang="en-US" altLang="zh-CN" sz="2000" b="1" kern="100" dirty="0">
              <a:solidFill>
                <a:schemeClr val="bg1"/>
              </a:solidFill>
              <a:highlight>
                <a:srgbClr val="80008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CN" altLang="en-US" sz="2000" b="1" kern="100" dirty="0">
                <a:solidFill>
                  <a:schemeClr val="bg1"/>
                </a:solidFill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品牌战略</a:t>
            </a:r>
            <a:r>
              <a:rPr lang="en-US" altLang="zh-CN" sz="2000" b="1" kern="100" dirty="0">
                <a:solidFill>
                  <a:schemeClr val="bg1"/>
                </a:solidFill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en-US" sz="2000" b="1" kern="100" dirty="0">
                <a:solidFill>
                  <a:schemeClr val="bg1"/>
                </a:solidFill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000" b="1" kern="100" dirty="0">
                <a:solidFill>
                  <a:schemeClr val="bg1"/>
                </a:solidFill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品牌设计</a:t>
            </a:r>
            <a:r>
              <a:rPr lang="en-US" altLang="zh-CN" sz="2000" b="1" kern="100" dirty="0">
                <a:solidFill>
                  <a:schemeClr val="bg1"/>
                </a:solidFill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en-US" sz="2000" b="1" kern="100" dirty="0">
                <a:solidFill>
                  <a:schemeClr val="bg1"/>
                </a:solidFill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000" b="1" kern="100" dirty="0">
                <a:solidFill>
                  <a:schemeClr val="bg1"/>
                </a:solidFill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视觉营销增长操盘手</a:t>
            </a:r>
            <a:endParaRPr lang="zh-CN" altLang="en-US" sz="2000" b="1" kern="100" dirty="0">
              <a:solidFill>
                <a:schemeClr val="bg1"/>
              </a:solidFill>
              <a:highlight>
                <a:srgbClr val="80008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现任</a:t>
            </a:r>
            <a:r>
              <a:rPr lang="zh-CN" altLang="en-US" sz="1700" b="1" kern="100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30亿级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品牌业务体系核心操盘角色，深耕跨境电商与品牌视觉增长多年</a:t>
            </a:r>
            <a:endParaRPr 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覆盖</a:t>
            </a:r>
            <a:r>
              <a:rPr lang="zh-CN" altLang="en-US" sz="1700" b="1" kern="100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服装、3C、家居户外、母婴出行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等多个类目，擅长把用户决策链路转化为高点击、高转化的内容结构</a:t>
            </a:r>
            <a:endParaRPr 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曾主导多品牌战略切割、视觉资产体系搭建、Listing增长闭环、旗舰店升级等项目</a:t>
            </a:r>
            <a:endParaRPr 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打造多款亚马逊</a:t>
            </a:r>
            <a:r>
              <a:rPr 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700" b="1" kern="100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TOP5爆品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，其中某单品做到</a:t>
            </a:r>
            <a:r>
              <a:rPr lang="zh-CN" altLang="en-US" sz="1700" b="1" kern="100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类目 TOP1，年 GMV 达 30亿</a:t>
            </a:r>
            <a:endParaRPr lang="zh-CN" sz="1600" b="1" dirty="0">
              <a:solidFill>
                <a:srgbClr val="FF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通过视觉优化实现</a:t>
            </a:r>
            <a:r>
              <a:rPr lang="zh-CN" altLang="en-US" sz="1700" b="1" kern="100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广告转化率达20%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，推动旗舰店 </a:t>
            </a:r>
            <a:r>
              <a:rPr lang="zh-CN" altLang="en-US" sz="1700" b="1" kern="100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GMV增长60%-80%</a:t>
            </a:r>
            <a:endParaRPr lang="zh-CN" altLang="en-US" sz="1700" b="1" kern="100" dirty="0">
              <a:solidFill>
                <a:srgbClr val="C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具备完整</a:t>
            </a:r>
            <a:r>
              <a:rPr lang="zh-CN" altLang="en-US" sz="1700" b="1" kern="100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设计SOP与卖点素材资源库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，可持续提升团队内容产能与协作效率</a:t>
            </a:r>
            <a:endParaRPr 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zh-CN" altLang="en-US" sz="2000" b="1" kern="100" dirty="0">
              <a:solidFill>
                <a:schemeClr val="bg1"/>
              </a:solidFill>
              <a:highlight>
                <a:srgbClr val="80008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CN" altLang="en-US" sz="2000" b="1" kern="100" dirty="0">
                <a:solidFill>
                  <a:schemeClr val="bg1"/>
                </a:solidFill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课程亮点：</a:t>
            </a:r>
            <a:endParaRPr lang="en-US" altLang="zh-CN" sz="2000" b="1" kern="100" dirty="0">
              <a:solidFill>
                <a:schemeClr val="bg1"/>
              </a:solidFill>
              <a:highlight>
                <a:srgbClr val="80008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zh-CN" sz="1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视觉诊断：</a:t>
            </a:r>
            <a:r>
              <a:rPr 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1700" b="1" kern="100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用户洞察、竞品拆解、CTR/CVR判断与页面问题归因</a:t>
            </a:r>
            <a:r>
              <a:rPr 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，帮助学员</a:t>
            </a:r>
            <a:r>
              <a:rPr lang="zh-CN" altLang="en-US" sz="1700" b="1" kern="100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快速定位视觉短板</a:t>
            </a:r>
            <a:r>
              <a:rPr 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，提升优化判断的准确性。</a:t>
            </a:r>
            <a:endParaRPr 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zh-CN" sz="1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结构搭建：</a:t>
            </a:r>
            <a:r>
              <a:rPr 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围绕</a:t>
            </a:r>
            <a:r>
              <a:rPr lang="zh-CN" altLang="en-US" sz="1700" b="1" kern="100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主图、附图、A+、视频</a:t>
            </a:r>
            <a:r>
              <a:rPr 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的分工逻辑与内容节奏，讲清页面内容如何</a:t>
            </a:r>
            <a:r>
              <a:rPr lang="zh-CN" altLang="en-US" sz="1700" b="1" kern="100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协同配合</a:t>
            </a:r>
            <a:r>
              <a:rPr 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，帮助学员搭建更完整的</a:t>
            </a:r>
            <a:r>
              <a:rPr lang="zh-CN" altLang="en-US" sz="1700" b="1" kern="100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转化结构</a:t>
            </a:r>
            <a:r>
              <a:rPr 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zh-CN" sz="1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品牌升级：</a:t>
            </a:r>
            <a:r>
              <a:rPr 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讲清</a:t>
            </a:r>
            <a:r>
              <a:rPr lang="zh-CN" altLang="en-US" sz="1700" b="1" kern="100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品牌战略、品牌设计与页面表达</a:t>
            </a:r>
            <a:r>
              <a:rPr 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的协同逻辑，建立更统一的</a:t>
            </a:r>
            <a:r>
              <a:rPr lang="zh-CN" altLang="en-US" sz="1700" b="1" kern="100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品牌识别与内容体系</a:t>
            </a:r>
            <a:r>
              <a:rPr 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，让视觉在带动转化的同时持续</a:t>
            </a:r>
            <a:r>
              <a:rPr lang="zh-CN" altLang="en-US" sz="1700" b="1" kern="100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沉淀品牌资产</a:t>
            </a:r>
            <a:r>
              <a:rPr 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zh-CN" sz="1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卖点转译：</a:t>
            </a:r>
            <a:r>
              <a:rPr 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结合</a:t>
            </a:r>
            <a:r>
              <a:rPr lang="zh-CN" altLang="en-US" sz="1700" b="1" kern="100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人群分析、使用场景、痛点提炼与利益点表达</a:t>
            </a:r>
            <a:r>
              <a:rPr 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方法，教会学员把产品功能转化成用户更容易感知和买单的内容。</a:t>
            </a:r>
            <a:endParaRPr 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zh-CN" sz="1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模板落地：</a:t>
            </a:r>
            <a:r>
              <a:rPr 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1700" b="1" kern="100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多类目案例拆解、图文视频结构模板</a:t>
            </a:r>
            <a:r>
              <a:rPr 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与页面优化思路输出，让学员课后可直接应用到老链接优化、新品搭建和内容升级中。</a:t>
            </a:r>
            <a:endParaRPr 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zh-CN" sz="1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协同提效：</a:t>
            </a:r>
            <a:r>
              <a:rPr 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借助</a:t>
            </a:r>
            <a:r>
              <a:rPr lang="zh-CN" altLang="en-US" sz="1700" b="1" kern="100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标准化 Brief、内容判断框架、跨部门协作逻辑</a:t>
            </a:r>
            <a:r>
              <a:rPr 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与视觉中台 SOP，帮助团队统一标准，减少返工，提升协作效率。</a:t>
            </a:r>
            <a:endParaRPr 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zh-CN" sz="1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AI赋能：</a:t>
            </a:r>
            <a:r>
              <a:rPr 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结合 AI 在概念生成、创意延展、AB变体、风格统一与修图辅助中的实战用法，</a:t>
            </a:r>
            <a:r>
              <a:rPr lang="zh-CN" altLang="en-US" sz="1700" b="1" kern="100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缩短出图周期，提升测试效率与团队产能。</a:t>
            </a:r>
            <a:endParaRPr 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428625"/>
            <a:ext cx="2595880" cy="2781935"/>
          </a:xfrm>
          <a:prstGeom prst="rect">
            <a:avLst/>
          </a:prstGeom>
        </p:spPr>
      </p:pic>
      <p:pic>
        <p:nvPicPr>
          <p:cNvPr id="4" name="图片 3" descr="75e5eacedbd4611e17582206b98e33ad"/>
          <p:cNvPicPr>
            <a:picLocks noChangeAspect="1"/>
          </p:cNvPicPr>
          <p:nvPr/>
        </p:nvPicPr>
        <p:blipFill>
          <a:blip r:embed="rId3"/>
          <a:srcRect l="536" r="536"/>
          <a:stretch>
            <a:fillRect/>
          </a:stretch>
        </p:blipFill>
        <p:spPr>
          <a:xfrm>
            <a:off x="446405" y="3429000"/>
            <a:ext cx="1938655" cy="19532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64490" y="54965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扫码咨询助教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black background with pink tex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3978" y="171738"/>
            <a:ext cx="1418364" cy="437884"/>
          </a:xfrm>
          <a:prstGeom prst="rect">
            <a:avLst/>
          </a:prstGeom>
        </p:spPr>
      </p:pic>
      <p:sp>
        <p:nvSpPr>
          <p:cNvPr id="13" name="Title 1"/>
          <p:cNvSpPr txBox="1"/>
          <p:nvPr/>
        </p:nvSpPr>
        <p:spPr>
          <a:xfrm>
            <a:off x="3127128" y="0"/>
            <a:ext cx="7358294" cy="781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线下课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】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亚马逊视觉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增长实战课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–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Wynn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Content Placeholder 2"/>
          <p:cNvSpPr txBox="1"/>
          <p:nvPr/>
        </p:nvSpPr>
        <p:spPr>
          <a:xfrm>
            <a:off x="2748915" y="989965"/>
            <a:ext cx="9027795" cy="56978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zh-CN" sz="2000" b="1" kern="100" dirty="0">
                <a:solidFill>
                  <a:schemeClr val="bg1"/>
                </a:solidFill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30</a:t>
            </a:r>
            <a:r>
              <a:rPr lang="zh-CN" altLang="en-US" sz="2000" b="1" kern="100" dirty="0">
                <a:solidFill>
                  <a:schemeClr val="bg1"/>
                </a:solidFill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亿大卖的视觉复制法：</a:t>
            </a:r>
            <a:endParaRPr lang="en-US" altLang="zh-CN" sz="2000" b="1" kern="100" dirty="0">
              <a:solidFill>
                <a:schemeClr val="bg1"/>
              </a:solidFill>
              <a:highlight>
                <a:srgbClr val="80008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>
              <a:buClrTx/>
              <a:buSzTx/>
            </a:pPr>
            <a:r>
              <a:rPr lang="en-US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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视觉诊断法：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快速定位影响点击与转化的关键问题，告别盲目改图。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</a:pPr>
            <a:r>
              <a:rPr lang="en-US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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主图差异化：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用视觉锚点、利益前置与信任证据抢占第一眼点击。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</a:pPr>
            <a:r>
              <a:rPr lang="en-US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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卖点转译法：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把产品功能转成用户能感知、愿买单的购买理由。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</a:pPr>
            <a:r>
              <a:rPr lang="en-US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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整页协同法：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打通主图、附图、A+、视频的内容分工与转化节奏。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</a:pPr>
            <a:r>
              <a:rPr lang="en-US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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模板复用法：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用多类目案例和结构模板，直接指导老链接优化与新品搭建。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</a:pPr>
            <a:r>
              <a:rPr lang="en-US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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提效法：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 AI 用进概念生成、版本测试、修图延展与风格统一。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</a:pPr>
            <a:r>
              <a:rPr lang="en-US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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协同降损法：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 Brief、SOP 和判断框架减少团队返工与沟通成本。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</a:pPr>
            <a:r>
              <a:rPr lang="en-US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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中台沉淀法：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搭建模板库、资产包、案例库与复盘机制，形成长期复利。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......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zh-CN" sz="300" b="1" kern="100" dirty="0">
              <a:solidFill>
                <a:schemeClr val="bg1"/>
              </a:solidFill>
              <a:highlight>
                <a:srgbClr val="80008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CN" altLang="en-US" sz="2000" b="1" kern="100" dirty="0">
                <a:solidFill>
                  <a:schemeClr val="bg1"/>
                </a:solidFill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你将收获：</a:t>
            </a:r>
            <a:endParaRPr lang="en-US" altLang="zh-CN" sz="2000" b="1" kern="100" dirty="0">
              <a:solidFill>
                <a:schemeClr val="bg1"/>
              </a:solidFill>
              <a:highlight>
                <a:srgbClr val="80008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Font typeface="Arial" panose="020B0604020202020204" pitchFamily="34" charset="0"/>
              <a:buAutoNum type="arabicPeriod"/>
            </a:pPr>
            <a:r>
              <a:rPr lang="en-US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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学会快速诊断主图、附图、</a:t>
            </a: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A+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、视频、旗舰店分别卡在哪个环节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Font typeface="Arial" panose="020B0604020202020204" pitchFamily="34" charset="0"/>
              <a:buAutoNum type="arabicPeriod"/>
            </a:pPr>
            <a:r>
              <a:rPr lang="en-US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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建立一套跨类目的高点击主图、高转化图文视频结构方法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Font typeface="Arial" panose="020B0604020202020204" pitchFamily="34" charset="0"/>
              <a:buAutoNum type="arabicPeriod"/>
            </a:pPr>
            <a:r>
              <a:rPr lang="en-US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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学会把用户洞察、卖点、利益点、证据链转成真正能卖的内容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Font typeface="Arial" panose="020B0604020202020204" pitchFamily="34" charset="0"/>
              <a:buAutoNum type="arabicPeriod"/>
            </a:pPr>
            <a:r>
              <a:rPr lang="en-US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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学会品牌定位与视觉传达对齐，提升品牌统一性与用户心智占领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Font typeface="Arial" panose="020B0604020202020204" pitchFamily="34" charset="0"/>
              <a:buAutoNum type="arabicPeriod"/>
            </a:pPr>
            <a:r>
              <a:rPr lang="en-US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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掌握品牌旗舰店页面结构与节奏设计方法，提升承接与转化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Font typeface="Arial" panose="020B0604020202020204" pitchFamily="34" charset="0"/>
              <a:buAutoNum type="arabicPeriod"/>
            </a:pPr>
            <a:r>
              <a:rPr lang="en-US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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搭建视觉中台雏形，明确组织协作、资产沉淀、</a:t>
            </a: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提效与数据复盘机制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Font typeface="Arial" panose="020B0604020202020204" pitchFamily="34" charset="0"/>
              <a:buAutoNum type="arabicPeriod"/>
            </a:pPr>
            <a:r>
              <a:rPr lang="en-US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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带走可落地的模板、</a:t>
            </a: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SOP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、复盘思路与协作框架，课后即可应用到真实项目中</a:t>
            </a:r>
            <a:endParaRPr lang="zh-CN" altLang="en-US" sz="17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Font typeface="Arial" panose="020B0604020202020204" pitchFamily="34" charset="0"/>
              <a:buNone/>
            </a:pPr>
            <a:endParaRPr lang="en-US" altLang="zh-CN" sz="17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" y="467360"/>
            <a:ext cx="2538095" cy="3233420"/>
          </a:xfrm>
          <a:prstGeom prst="rect">
            <a:avLst/>
          </a:prstGeom>
        </p:spPr>
      </p:pic>
      <p:pic>
        <p:nvPicPr>
          <p:cNvPr id="4" name="图片 3" descr="75e5eacedbd4611e17582206b98e33ad"/>
          <p:cNvPicPr>
            <a:picLocks noChangeAspect="1"/>
          </p:cNvPicPr>
          <p:nvPr/>
        </p:nvPicPr>
        <p:blipFill>
          <a:blip r:embed="rId3"/>
          <a:srcRect l="551" r="551"/>
          <a:stretch>
            <a:fillRect/>
          </a:stretch>
        </p:blipFill>
        <p:spPr>
          <a:xfrm>
            <a:off x="623570" y="3938905"/>
            <a:ext cx="1487805" cy="14992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64490" y="5496560"/>
            <a:ext cx="21545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扫码咨询助教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4" name="Group 23"/>
          <p:cNvGrpSpPr>
            <a:grpSpLocks noGrp="1" noRot="1" noChangeAspect="1" noMove="1" noResize="1" noUngrp="1"/>
          </p:cNvGrpSpPr>
          <p:nvPr/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25" name="Freeform: Shape 24"/>
            <p:cNvSpPr/>
            <p:nvPr/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/>
            <p:cNvSpPr/>
            <p:nvPr/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/>
            <p:cNvSpPr/>
            <p:nvPr/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/>
            <p:cNvSpPr/>
            <p:nvPr/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/>
            <p:cNvSpPr/>
            <p:nvPr/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</a:t>
            </a: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br>
              <a:rPr lang="en-US" altLang="zh-CN" sz="4000" b="1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视觉增长底层逻辑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用户洞察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b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视觉传达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Picture 7" descr="A black background with pink tex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8998" y="249860"/>
            <a:ext cx="1904879" cy="588083"/>
          </a:xfrm>
          <a:prstGeom prst="rect">
            <a:avLst/>
          </a:prstGeom>
        </p:spPr>
      </p:pic>
      <p:sp>
        <p:nvSpPr>
          <p:cNvPr id="13" name="Content Placeholder 2"/>
          <p:cNvSpPr txBox="1"/>
          <p:nvPr/>
        </p:nvSpPr>
        <p:spPr>
          <a:xfrm>
            <a:off x="5535295" y="176530"/>
            <a:ext cx="6548120" cy="4779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0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视觉不是做图，是影响流量、转化与品牌心智的增长系统</a:t>
            </a:r>
            <a:endParaRPr lang="en-US" altLang="zh-CN" sz="2000" b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视觉为什么能决定点击与转化：从</a:t>
            </a:r>
            <a:r>
              <a:rPr lang="en-US" altLang="zh-CN" sz="1800" b="1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1800" b="1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好看</a:t>
            </a:r>
            <a:r>
              <a:rPr lang="en-US" altLang="zh-CN" sz="1800" b="1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升级为</a:t>
            </a:r>
            <a:r>
              <a:rPr lang="en-US" altLang="zh-CN" sz="1800" b="1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“好卖”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平台逻辑差异：搜索型平台与推荐型平台的视觉任务拆解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好的视觉，核心不是酷炫，而是让用户快速看懂</a:t>
            </a:r>
            <a:r>
              <a:rPr lang="en-US" altLang="zh-CN" sz="1800" b="1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“为什么选你”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用户洞察框架：人群、场景、动机、痛点、痒点、决策触发点、信息关注点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如何把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产品有什么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翻译成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用户能得到什么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竞品视觉拆解：从主图、附图、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A+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、视频、买家秀中</a:t>
            </a:r>
            <a:r>
              <a:rPr lang="en-US" altLang="zh-CN" sz="1800" b="1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找到差异化机会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结合案例，拆解不同类目的视觉逻辑与增长思路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fontAlgn="base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774565" y="4669155"/>
            <a:ext cx="7417435" cy="218884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700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案例拆解：</a:t>
            </a:r>
            <a:endParaRPr lang="zh-CN" altLang="en-US" sz="1700" b="1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服饰类案例：运动</a:t>
            </a:r>
            <a:r>
              <a:rPr lang="en-US" altLang="zh-CN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 </a:t>
            </a:r>
            <a:r>
              <a:rPr lang="zh-CN" altLang="en-US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休闲等品类主图调优，观察</a:t>
            </a:r>
            <a:r>
              <a:rPr lang="en-US" altLang="zh-CN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CTR </a:t>
            </a:r>
            <a:r>
              <a:rPr lang="zh-CN" altLang="en-US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CVR </a:t>
            </a:r>
            <a:r>
              <a:rPr lang="zh-CN" altLang="en-US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的联动提升逻辑</a:t>
            </a:r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家具</a:t>
            </a:r>
            <a:r>
              <a:rPr lang="en-US" altLang="zh-CN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 3C </a:t>
            </a:r>
            <a:r>
              <a:rPr lang="zh-CN" altLang="en-US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类案例：升降桌、桌板、数据线品牌在主图与卖点表达上的差异化处理</a:t>
            </a:r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母婴</a:t>
            </a:r>
            <a:r>
              <a:rPr lang="en-US" altLang="zh-CN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 </a:t>
            </a:r>
            <a:r>
              <a:rPr lang="zh-CN" altLang="en-US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童车类案例：安全感、功能感与场景感在视觉传达中的不同表达方式</a:t>
            </a:r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15645"/>
          <a:stretch>
            <a:fillRect/>
          </a:stretch>
        </p:blipFill>
        <p:spPr>
          <a:xfrm>
            <a:off x="-157035" y="107950"/>
            <a:ext cx="4338827" cy="6642100"/>
          </a:xfrm>
          <a:prstGeom prst="rect">
            <a:avLst/>
          </a:prstGeom>
        </p:spPr>
      </p:pic>
      <p:pic>
        <p:nvPicPr>
          <p:cNvPr id="16" name="Picture 15" descr="A black background with pink tex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34" y="293840"/>
            <a:ext cx="1904879" cy="58808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243013"/>
            <a:ext cx="3855720" cy="4371974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  <a:buClrTx/>
              <a:buSzTx/>
              <a:buFontTx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模块</a:t>
            </a: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爆款Listing图文 </a:t>
            </a:r>
            <a:b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视频打法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4181792" y="-340322"/>
            <a:ext cx="7650177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建立可迁移到多类目的高点击</a:t>
            </a:r>
            <a:r>
              <a:rPr lang="en-US" altLang="zh-CN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高转化内容结构</a:t>
            </a: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路</a:t>
            </a:r>
            <a:endParaRPr lang="en-US" altLang="zh-CN" sz="2100" b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base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ClrTx/>
              <a:buSzTx/>
            </a:pPr>
            <a:r>
              <a:rPr lang="zh-CN" altLang="en-US" sz="18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主图任务：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如何用第一眼竞争抢下点击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 fontAlgn="base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ClrTx/>
              <a:buSzTx/>
            </a:pPr>
            <a:r>
              <a:rPr lang="zh-CN" altLang="en-US" sz="18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主图结构：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共识元素 + 差异化锚点 + 信任证据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 fontAlgn="base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ClrTx/>
              <a:buSzTx/>
            </a:pPr>
            <a:r>
              <a:rPr lang="zh-CN" altLang="en-US" sz="18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内容营销方法：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从产品功能走向用户利益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 fontAlgn="base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ClrTx/>
              <a:buSzTx/>
            </a:pPr>
            <a:r>
              <a:rPr lang="zh-CN" altLang="en-US" sz="18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附图节奏：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每张图只解决一个问题，围绕关键情绪与决策点排布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 fontAlgn="base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ClrTx/>
              <a:buSzTx/>
            </a:pPr>
            <a:r>
              <a:rPr lang="zh-CN" altLang="en-US" sz="18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A+结构：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品牌主张、核心卖点、工艺证据、对比表、场景、品牌资产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 fontAlgn="base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ClrTx/>
              <a:buSzTx/>
            </a:pPr>
            <a:r>
              <a:rPr lang="zh-CN" altLang="en-US" sz="18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视频结构：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BGC / PGC / UGC 各自承担什么任务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 fontAlgn="base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ClrTx/>
              <a:buSzTx/>
            </a:pPr>
            <a:r>
              <a:rPr lang="zh-CN" altLang="en-US" sz="18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多类目案例拆解：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服饰、家居、数码3C、户外、童车的内容打法差异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 fontAlgn="base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ClrTx/>
              <a:buSzTx/>
            </a:pP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输出可直接套用的图文视频结构模板与内容拆解思路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257184" y="4349478"/>
            <a:ext cx="7417745" cy="24003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700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案例拆解：</a:t>
            </a:r>
            <a:endParaRPr lang="zh-CN" altLang="en-US" sz="1700" b="1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服饰类案例：动作、光影、模特调度如何影响第一眼点击与整体转化</a:t>
            </a:r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家具</a:t>
            </a:r>
            <a:r>
              <a:rPr lang="en-US" altLang="zh-CN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 </a:t>
            </a:r>
            <a:r>
              <a:rPr lang="zh-CN" altLang="en-US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家居类案例：以不同品牌内容表达做对照，拆解信息结构与卖点承接方式</a:t>
            </a:r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数码</a:t>
            </a:r>
            <a:r>
              <a:rPr lang="en-US" altLang="zh-CN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 </a:t>
            </a:r>
            <a:r>
              <a:rPr lang="zh-CN" altLang="en-US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户外类案例：如何把卖点做</a:t>
            </a:r>
            <a:r>
              <a:rPr lang="en-US" altLang="zh-CN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证据化</a:t>
            </a:r>
            <a:r>
              <a:rPr lang="en-US" altLang="zh-CN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，提升专业感与信任感</a:t>
            </a:r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童车</a:t>
            </a:r>
            <a:r>
              <a:rPr lang="en-US" altLang="zh-CN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 </a:t>
            </a:r>
            <a:r>
              <a:rPr lang="zh-CN" altLang="en-US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母婴类案例：围绕</a:t>
            </a:r>
            <a:r>
              <a:rPr lang="en-US" altLang="zh-CN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安全信任</a:t>
            </a:r>
            <a:r>
              <a:rPr lang="en-US" altLang="zh-CN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+ </a:t>
            </a:r>
            <a:r>
              <a:rPr lang="zh-CN" altLang="en-US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使用场景</a:t>
            </a:r>
            <a:r>
              <a:rPr lang="en-US" altLang="zh-CN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建立内容结构与转化节奏</a:t>
            </a:r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15645"/>
          <a:stretch>
            <a:fillRect/>
          </a:stretch>
        </p:blipFill>
        <p:spPr>
          <a:xfrm>
            <a:off x="-282375" y="215900"/>
            <a:ext cx="4338827" cy="6642100"/>
          </a:xfrm>
          <a:prstGeom prst="rect">
            <a:avLst/>
          </a:prstGeom>
        </p:spPr>
      </p:pic>
      <p:pic>
        <p:nvPicPr>
          <p:cNvPr id="16" name="Picture 15" descr="A black background with pink tex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34" y="293840"/>
            <a:ext cx="1904879" cy="58808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243013"/>
            <a:ext cx="3855720" cy="4371974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  <a:buClrTx/>
              <a:buSzTx/>
              <a:buFontTx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模块</a:t>
            </a: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数据分析诊断 </a:t>
            </a:r>
            <a:b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品牌升级</a:t>
            </a:r>
            <a:b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AI提效</a:t>
            </a:r>
            <a:endParaRPr lang="zh-CN" altLang="en-US" sz="3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3855720" y="0"/>
            <a:ext cx="8306435" cy="52812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8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不再凭感觉改图，而是能看数据、会诊断、懂品牌，把</a:t>
            </a:r>
            <a:r>
              <a:rPr lang="en-US" altLang="zh-CN" sz="18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8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嵌入真实工作流</a:t>
            </a:r>
            <a:endParaRPr lang="en-US" altLang="zh-CN" sz="1800" b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视觉诊断六维：品牌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渠道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产品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用户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竞对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团队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如何从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CTR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CVR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、停留时长、评论、退货原因等指标读出问题根源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品牌升级重点：品牌口号、故事、符号、一致性与用户心智占领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颜色、字体、版式、影调、图形语言如何形成品牌识别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ROI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场景：概念生成、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AB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变体、风格统一、修图延展、辅助质检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建立视觉复盘机制：问题归因、优化动作、数据验证、经验沉淀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通过品牌与视觉诊断案例，理解从问题到动作的完整链路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056452" y="4174444"/>
            <a:ext cx="7934816" cy="24003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案例拆解：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600"/>
              </a:spcAft>
            </a:pPr>
            <a:r>
              <a:rPr lang="zh-CN" altLang="en-US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品牌现状诊断案例：从品牌、渠道、产品、用户、竞对、团队六个维度梳理问题</a:t>
            </a:r>
            <a:endParaRPr lang="zh-CN" altLang="en-US" sz="17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600"/>
              </a:spcAft>
            </a:pPr>
            <a:r>
              <a:rPr lang="zh-CN" altLang="en-US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品牌升级案例：品牌故事、品牌符号、一致性表达优化前后的变化逻辑</a:t>
            </a:r>
            <a:endParaRPr lang="zh-CN" altLang="en-US" sz="17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600"/>
              </a:spcAft>
            </a:pPr>
            <a:r>
              <a:rPr lang="en-US" altLang="zh-CN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辅助案例：主图</a:t>
            </a:r>
            <a:r>
              <a:rPr lang="en-US" altLang="zh-CN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AB </a:t>
            </a:r>
            <a:r>
              <a:rPr lang="zh-CN" altLang="en-US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变体、风格统一、修图延展等高频应用场景展示</a:t>
            </a:r>
            <a:endParaRPr lang="zh-CN" altLang="en-US" sz="17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15645"/>
          <a:stretch>
            <a:fillRect/>
          </a:stretch>
        </p:blipFill>
        <p:spPr>
          <a:xfrm>
            <a:off x="-157035" y="107950"/>
            <a:ext cx="4338827" cy="6642100"/>
          </a:xfrm>
          <a:prstGeom prst="rect">
            <a:avLst/>
          </a:prstGeom>
        </p:spPr>
      </p:pic>
      <p:pic>
        <p:nvPicPr>
          <p:cNvPr id="16" name="Picture 15" descr="A black background with pink tex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34" y="293840"/>
            <a:ext cx="1904879" cy="58808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243013"/>
            <a:ext cx="3855720" cy="4371974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  <a:buClrTx/>
              <a:buSzTx/>
              <a:buFontTx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模块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四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品牌表达与</a:t>
            </a:r>
            <a:b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旗舰店承接</a:t>
            </a:r>
            <a:endParaRPr lang="zh-CN" altLang="en-US" sz="3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4338955" y="0"/>
            <a:ext cx="7650480" cy="4525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把旗舰店从页面装修升级为</a:t>
            </a:r>
            <a:endParaRPr lang="zh-CN" altLang="en-US" sz="2100" b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品牌认知场、用户信任场、活动承接场与转化场</a:t>
            </a:r>
            <a:endParaRPr lang="zh-CN" altLang="en-US" sz="2100" b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旗舰店的真正价值：不是装修，而是认知强化、信任建立与转化承接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旗舰店视觉统一三原则：品牌感统一、信息节奏统一、场景一致性统一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页面五步节奏：认知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吸引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信任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引导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行动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页面结构拆解：头图、品牌主张、核心类目、爆款承接、场景内容、证据模块、活动模块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亚马逊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 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独立站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 TikTok Shop 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的页面结构差异与适配逻辑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店铺与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Listing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、广告、社媒之间如何联动，形成整体内容闭环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结合案例，对比优质旗舰店与表现一般页面的核心差异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38955" y="4333240"/>
            <a:ext cx="7772400" cy="211201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案例拆解：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600"/>
              </a:spcAft>
            </a:pPr>
            <a:r>
              <a:rPr lang="zh-CN" altLang="en-US" sz="1700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旗舰店改版案例：</a:t>
            </a:r>
            <a:r>
              <a:rPr lang="zh-CN" altLang="en-US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某品牌旗舰店改版前后在承接与转化上的变化</a:t>
            </a:r>
            <a:endParaRPr lang="zh-CN" altLang="en-US" sz="17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600"/>
              </a:spcAft>
            </a:pPr>
            <a:r>
              <a:rPr lang="zh-CN" altLang="en-US" sz="1700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跨平台页面案例：</a:t>
            </a:r>
            <a:r>
              <a:rPr lang="zh-CN" altLang="en-US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亚马逊、</a:t>
            </a:r>
            <a:r>
              <a:rPr lang="en-US" altLang="zh-CN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Shopify</a:t>
            </a:r>
            <a:r>
              <a:rPr lang="zh-CN" altLang="en-US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TikTok Shop </a:t>
            </a:r>
            <a:r>
              <a:rPr lang="zh-CN" altLang="en-US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页面结构差异与适配逻辑</a:t>
            </a:r>
            <a:endParaRPr lang="zh-CN" altLang="en-US" sz="17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600"/>
              </a:spcAft>
            </a:pPr>
            <a:r>
              <a:rPr lang="zh-CN" altLang="en-US" sz="1700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品牌统一性案例：</a:t>
            </a:r>
            <a:r>
              <a:rPr lang="zh-CN" altLang="en-US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围绕页面五步节奏，拆解好的旗舰店是如何建立品牌感与转化逻辑的</a:t>
            </a:r>
            <a:endParaRPr lang="zh-CN" altLang="en-US" sz="17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15645"/>
          <a:stretch>
            <a:fillRect/>
          </a:stretch>
        </p:blipFill>
        <p:spPr>
          <a:xfrm>
            <a:off x="-157035" y="107950"/>
            <a:ext cx="4338827" cy="6642100"/>
          </a:xfrm>
          <a:prstGeom prst="rect">
            <a:avLst/>
          </a:prstGeom>
        </p:spPr>
      </p:pic>
      <p:pic>
        <p:nvPicPr>
          <p:cNvPr id="16" name="Picture 15" descr="A black background with pink tex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34" y="293840"/>
            <a:ext cx="1904879" cy="58808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243013"/>
            <a:ext cx="3855720" cy="4371974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  <a:buClrTx/>
              <a:buSzTx/>
              <a:buFontTx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模块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五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视觉工作流</a:t>
            </a:r>
            <a:b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与协同机制</a:t>
            </a:r>
            <a:endParaRPr lang="zh-CN" altLang="en-US" sz="3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4181475" y="0"/>
            <a:ext cx="7650480" cy="46545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让视觉工作从</a:t>
            </a:r>
            <a:r>
              <a:rPr lang="en-US" altLang="zh-CN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接需求做图</a:t>
            </a:r>
            <a:r>
              <a:rPr lang="en-US" altLang="zh-CN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升级为</a:t>
            </a:r>
            <a:r>
              <a:rPr lang="en-US" altLang="zh-CN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围绕增长目标稳定交付</a:t>
            </a:r>
            <a:r>
              <a:rPr lang="en-US" altLang="zh-CN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的系统化流程</a:t>
            </a: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en-US" sz="1600" i="1" dirty="0">
                <a:solidFill>
                  <a:srgbClr val="160460"/>
                </a:solidFill>
                <a:effectLst/>
              </a:rPr>
              <a:t> </a:t>
            </a:r>
            <a:endParaRPr lang="zh-CN" altLang="en-US" sz="2100" b="1" i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视觉团队为什么必须理解产品、用户、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GTM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、渠道、价格带与增长目标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搭建完整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SOP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Brief </a:t>
            </a:r>
            <a:r>
              <a:rPr lang="en-US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用户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竞品研究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内容策略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拍摄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设计执行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上线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数据复盘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跨部门协同：品牌、运营、设计、开发、客服、投放如何围绕同一目标协作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需求标准化：减少口头沟通与无效返工，让审美讨论回到业务目标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提效策略：组件化设计、模板化复用、命名归档、版本管理、多人协作规范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嵌入工作流：从概念草图到素材变体，再到质检辅助与脚本生成</a:t>
            </a: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246116" y="4553448"/>
            <a:ext cx="7650177" cy="211205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案例拆解：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600"/>
              </a:spcAft>
            </a:pPr>
            <a:r>
              <a:rPr lang="zh-CN" altLang="en-US" sz="1700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团队诊断案例：</a:t>
            </a:r>
            <a:r>
              <a:rPr lang="zh-CN" altLang="en-US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用户洞察、市场洞察、营销功能缺失时，团队会出现哪些典型问题</a:t>
            </a:r>
            <a:endParaRPr lang="zh-CN" altLang="en-US" sz="17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600"/>
              </a:spcAft>
            </a:pPr>
            <a:r>
              <a:rPr lang="zh-CN" altLang="en-US" sz="1700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GTM协同案例：</a:t>
            </a:r>
            <a:r>
              <a:rPr lang="zh-CN" altLang="en-US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当</a:t>
            </a:r>
            <a:r>
              <a:rPr lang="en-US" altLang="zh-CN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GTM </a:t>
            </a:r>
            <a:r>
              <a:rPr lang="zh-CN" altLang="en-US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岗位缺失时，视觉与卖点呈现为何容易失焦</a:t>
            </a:r>
            <a:endParaRPr lang="zh-CN" altLang="en-US" sz="17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600"/>
              </a:spcAft>
            </a:pPr>
            <a:r>
              <a:rPr lang="zh-CN" altLang="en-US" sz="1700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中台搭建案例：</a:t>
            </a:r>
            <a:r>
              <a:rPr lang="zh-CN" altLang="en-US" sz="17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视觉资产库、模板库、案例库如何搭建，才能真正服务业务增长</a:t>
            </a:r>
            <a:endParaRPr lang="zh-CN" altLang="en-US" sz="17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15645"/>
          <a:stretch>
            <a:fillRect/>
          </a:stretch>
        </p:blipFill>
        <p:spPr>
          <a:xfrm>
            <a:off x="-157035" y="107950"/>
            <a:ext cx="4338827" cy="6642100"/>
          </a:xfrm>
          <a:prstGeom prst="rect">
            <a:avLst/>
          </a:prstGeom>
        </p:spPr>
      </p:pic>
      <p:pic>
        <p:nvPicPr>
          <p:cNvPr id="16" name="Picture 15" descr="A black background with pink tex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34" y="293840"/>
            <a:ext cx="1904879" cy="58808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243013"/>
            <a:ext cx="3855720" cy="437197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模块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六：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视觉团队建设</a:t>
            </a:r>
            <a:b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与能力沉淀</a:t>
            </a:r>
            <a:endParaRPr lang="zh-CN" altLang="en-US" sz="3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4277360" y="294005"/>
            <a:ext cx="7914640" cy="42208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把视觉团队升级为业务型视觉中台，形成可复制的方法、资产与组织能力：</a:t>
            </a:r>
            <a:endParaRPr lang="zh-CN" altLang="en-US" sz="2100" b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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视觉资产沉淀：品牌资产包、主图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附图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/A+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模板、视频脚本库、竞品拆解库、最佳图例库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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团队能力模型：不同岗位该具备哪些品牌理解、增长理解与内容表达能力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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组织管理：岗位分工、能力培养、考核标准与项目责任机制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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如何建立团队内部的方法论沉淀机制，避免经验只留在个人身上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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数据复盘机制：周复盘、月复盘、季度复盘，沉淀成功案例、失败案例与最佳实践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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让视觉中台真正服务品牌增长：从执行支持走向业务赋能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409311" y="4441687"/>
            <a:ext cx="7650177" cy="23079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3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案例拆解：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600"/>
              </a:spcAft>
            </a:pPr>
            <a:r>
              <a:rPr lang="zh-CN" altLang="en-US" sz="1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团队岗位协作案例</a:t>
            </a: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：视觉团队岗位设置与协作机制优化示例</a:t>
            </a:r>
            <a:endParaRPr lang="zh-CN" altLang="en-US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600"/>
              </a:spcAft>
            </a:pPr>
            <a:r>
              <a:rPr lang="zh-CN" altLang="en-US" sz="1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AI工作流案例：</a:t>
            </a:r>
            <a:r>
              <a:rPr lang="en-US" altLang="zh-CN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 </a:t>
            </a: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嵌入视觉工作流的高</a:t>
            </a:r>
            <a:r>
              <a:rPr lang="en-US" altLang="zh-CN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ROI </a:t>
            </a: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使用场景</a:t>
            </a:r>
            <a:endParaRPr lang="zh-CN" altLang="en-US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300"/>
              </a:lnSpc>
              <a:spcBef>
                <a:spcPts val="300"/>
              </a:spcBef>
              <a:spcAft>
                <a:spcPts val="600"/>
              </a:spcAft>
            </a:pPr>
            <a:r>
              <a:rPr lang="zh-CN" altLang="en-US" sz="1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复盘沉淀案例：</a:t>
            </a: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周</a:t>
            </a:r>
            <a:r>
              <a:rPr lang="en-US" altLang="zh-CN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月度视觉复盘表、</a:t>
            </a:r>
            <a:r>
              <a:rPr lang="en-US" altLang="zh-CN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Best Practice </a:t>
            </a: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宝库与经验资产沉淀示例</a:t>
            </a:r>
            <a:endParaRPr lang="zh-CN" altLang="en-US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3085" y="2454275"/>
            <a:ext cx="7636510" cy="3881120"/>
          </a:xfrm>
          <a:prstGeom prst="rect">
            <a:avLst/>
          </a:prstGeom>
        </p:spPr>
      </p:pic>
      <p:pic>
        <p:nvPicPr>
          <p:cNvPr id="8" name="Picture 7" descr="A black background with pink tex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8998" y="249860"/>
            <a:ext cx="1904879" cy="58808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1360" y="669925"/>
            <a:ext cx="797242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配套资料分享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重点产品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 To Mark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计划表</a:t>
            </a:r>
            <a:endParaRPr 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ular Callout 9"/>
          <p:cNvSpPr/>
          <p:nvPr/>
        </p:nvSpPr>
        <p:spPr>
          <a:xfrm>
            <a:off x="483125" y="1509932"/>
            <a:ext cx="3518859" cy="2919564"/>
          </a:xfrm>
          <a:prstGeom prst="wedgeRectCallout">
            <a:avLst>
              <a:gd name="adj1" fmla="val 63239"/>
              <a:gd name="adj2" fmla="val 3764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ts val="222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GTM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全流程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数据化管控】模式：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22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是通过构建「产品定位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执行落地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内容营销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数据追踪」的闭环系统，确保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级重点产品实现精准上市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高效打爆的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GTM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执行模式。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220"/>
              </a:lnSpc>
            </a:pP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22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帮助大家理解这种模式下，如何建立体系化的重点产品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GTM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工作框架和标准化执行流程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background with pink tex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8998" y="249860"/>
            <a:ext cx="1904879" cy="58808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3124" y="670080"/>
            <a:ext cx="11708876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配套资料分享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亿大卖美工提效方案！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ular Callout 9"/>
          <p:cNvSpPr/>
          <p:nvPr/>
        </p:nvSpPr>
        <p:spPr>
          <a:xfrm>
            <a:off x="483235" y="1510030"/>
            <a:ext cx="3957955" cy="2514600"/>
          </a:xfrm>
          <a:prstGeom prst="wedgeRectCallout">
            <a:avLst>
              <a:gd name="adj1" fmla="val 70523"/>
              <a:gd name="adj2" fmla="val 3991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构建「需求规范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流程精简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进度监控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源头优化」的闭环体系，实现美工团队工作效率提升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跨部门协作成本降低的提效模式！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聚焦业务部与美工部的跨部门对接场景，针对性解决设计需求沟通成本高、修改反复、进度不透明等痛点，目标实现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整体提效 10%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，核心需求类型（主副图）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提效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20%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895" y="1510030"/>
            <a:ext cx="5751195" cy="51758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background with pink tex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8998" y="249860"/>
            <a:ext cx="1904879" cy="58808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3124" y="670080"/>
            <a:ext cx="11708876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配套资料分享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：品牌可视化产品矩阵 </a:t>
            </a:r>
            <a:endParaRPr 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ular Callout 9"/>
          <p:cNvSpPr/>
          <p:nvPr/>
        </p:nvSpPr>
        <p:spPr>
          <a:xfrm>
            <a:off x="483125" y="1509932"/>
            <a:ext cx="3518859" cy="2242671"/>
          </a:xfrm>
          <a:prstGeom prst="wedgeRectCallout">
            <a:avLst>
              <a:gd name="adj1" fmla="val 58514"/>
              <a:gd name="adj2" fmla="val 31286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ts val="222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通过构建三维管理系统，实现产品资源最优配置、品牌力长期提升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GMV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高效增长的组合打法模式。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220"/>
              </a:lnSpc>
            </a:pP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22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建立体系化的产品组合管理框架和资源分配逻辑。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005" y="2164715"/>
            <a:ext cx="7647940" cy="43192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background with pink tex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8998" y="249860"/>
            <a:ext cx="1904879" cy="58808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3124" y="670080"/>
            <a:ext cx="11708876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配套资料分享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整合营销视觉一览表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表格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ular Callout 9"/>
          <p:cNvSpPr/>
          <p:nvPr/>
        </p:nvSpPr>
        <p:spPr>
          <a:xfrm>
            <a:off x="412750" y="2085975"/>
            <a:ext cx="3670935" cy="3307715"/>
          </a:xfrm>
          <a:prstGeom prst="wedgeRectCallout">
            <a:avLst>
              <a:gd name="adj1" fmla="val 72351"/>
              <a:gd name="adj2" fmla="val -1523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ts val="242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是通过构建「渠道视觉适配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生命周期视觉侧重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执行视觉落地」的闭环系统，实现亚马逊平台营销视觉与业务目标深度绑定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视觉转化效率最大化的运营模式。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20"/>
              </a:lnSpc>
            </a:pP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2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本文档表格，帮助大家理解亚马逊视觉传达工作中，如何基于不同营销渠道、产品生命周期，建立体系化的视觉资源规划与落地执行框架。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t="3525"/>
          <a:stretch>
            <a:fillRect/>
          </a:stretch>
        </p:blipFill>
        <p:spPr>
          <a:xfrm>
            <a:off x="5380990" y="1193165"/>
            <a:ext cx="5867400" cy="35280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660" y="2179955"/>
            <a:ext cx="6068695" cy="33845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605" y="3247390"/>
            <a:ext cx="6960870" cy="33312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4021</Words>
  <Application>WPS 演示</Application>
  <PresentationFormat>Widescreen</PresentationFormat>
  <Paragraphs>171</Paragraphs>
  <Slides>12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Times New Roman</vt:lpstr>
      <vt:lpstr>等线</vt:lpstr>
      <vt:lpstr>Calibri</vt:lpstr>
      <vt:lpstr>Arial Unicode MS</vt:lpstr>
      <vt:lpstr>Calibri Light</vt:lpstr>
      <vt:lpstr>Office Theme</vt:lpstr>
      <vt:lpstr>PowerPoint 演示文稿</vt:lpstr>
      <vt:lpstr>PowerPoint 演示文稿</vt:lpstr>
      <vt:lpstr>模块一： 视觉增长底层逻辑 用户洞察  视觉传达</vt:lpstr>
      <vt:lpstr>模块二： 爆款Listing图文  视频打法</vt:lpstr>
      <vt:lpstr>模块三： 数据分析诊断  品牌升级 AI提效</vt:lpstr>
      <vt:lpstr>模块四： 品牌表达与 旗舰店承接</vt:lpstr>
      <vt:lpstr>模块五： 视觉工作流 与协同机制</vt:lpstr>
      <vt:lpstr>模块六： 视觉团队建设 与能力沉淀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Ruize Sun</dc:creator>
  <cp:lastModifiedBy>Arna</cp:lastModifiedBy>
  <cp:revision>106</cp:revision>
  <dcterms:created xsi:type="dcterms:W3CDTF">2024-06-27T15:52:00Z</dcterms:created>
  <dcterms:modified xsi:type="dcterms:W3CDTF">2026-05-22T08:37:12Z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F002397E726D418E8AECB0814EBEA3BD_13</vt:lpwstr>
  </property>
  <property fmtid="{D5CDD505-2E9C-101B-9397-08002B2CF9AE}" pid="3" name="KSOProductBuildVer">
    <vt:lpwstr>2052-12.1.0.26375</vt:lpwstr>
  </property>
</Properties>
</file>