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7894" r:id="rId3"/>
    <p:sldId id="7954" r:id="rId5"/>
    <p:sldId id="2258" r:id="rId6"/>
    <p:sldId id="7947" r:id="rId7"/>
    <p:sldId id="7948" r:id="rId8"/>
    <p:sldId id="7949" r:id="rId9"/>
    <p:sldId id="7962" r:id="rId10"/>
    <p:sldId id="7950" r:id="rId11"/>
    <p:sldId id="7961" r:id="rId12"/>
    <p:sldId id="7951" r:id="rId13"/>
    <p:sldId id="7953" r:id="rId14"/>
    <p:sldId id="7943" r:id="rId15"/>
    <p:sldId id="7959" r:id="rId16"/>
    <p:sldId id="79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0460"/>
    <a:srgbClr val="2B0960"/>
    <a:srgbClr val="400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54"/>
    <p:restoredTop sz="95496"/>
  </p:normalViewPr>
  <p:slideViewPr>
    <p:cSldViewPr snapToGrid="0" snapToObjects="1">
      <p:cViewPr varScale="1">
        <p:scale>
          <a:sx n="108" d="100"/>
          <a:sy n="108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4DB53-EF98-184E-B7D8-1B023BF62D2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循序渐进</a:t>
            </a:r>
            <a:r>
              <a:rPr lang="zh-CN" altLang="en-US" dirty="0"/>
              <a:t>，从流量师思维 </a:t>
            </a:r>
            <a:r>
              <a:rPr lang="en-US" altLang="zh-CN" dirty="0"/>
              <a:t>–</a:t>
            </a:r>
            <a:r>
              <a:rPr lang="zh-CN" altLang="en-US" dirty="0"/>
              <a:t> 理解站外流量底层逻辑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11975-FC1B-AF43-A43A-739460EC5B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1604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3978" y="171738"/>
            <a:ext cx="1418364" cy="437884"/>
          </a:xfrm>
          <a:prstGeom prst="rect">
            <a:avLst/>
          </a:prstGeom>
        </p:spPr>
      </p:pic>
      <p:sp>
        <p:nvSpPr>
          <p:cNvPr id="13" name="Title 1"/>
          <p:cNvSpPr txBox="1"/>
          <p:nvPr/>
        </p:nvSpPr>
        <p:spPr>
          <a:xfrm>
            <a:off x="2220889" y="0"/>
            <a:ext cx="9013168" cy="78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线下课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独立站操盘手高阶课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全渠道组合打法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销量倍增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Content Placeholder 2"/>
          <p:cNvSpPr txBox="1"/>
          <p:nvPr/>
        </p:nvSpPr>
        <p:spPr>
          <a:xfrm>
            <a:off x="2381584" y="595367"/>
            <a:ext cx="9899315" cy="6448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讲师背景：</a:t>
            </a:r>
            <a:endParaRPr lang="en-US" altLang="zh-CN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全渠道整合营销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高手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头部DTC品牌的独立站操盘手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仅独立站</a:t>
            </a:r>
            <a:r>
              <a:rPr 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年销售额超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sz="1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累计</a:t>
            </a:r>
            <a:r>
              <a:rPr 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广告花费</a:t>
            </a:r>
            <a:r>
              <a:rPr lang="en-US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5</a:t>
            </a:r>
            <a:r>
              <a:rPr 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</a:t>
            </a:r>
            <a:r>
              <a:rPr lang="en-US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+RMB</a:t>
            </a:r>
            <a:r>
              <a:rPr lang="zh-CN" sz="1600" b="1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600" b="1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操盘</a:t>
            </a:r>
            <a:r>
              <a:rPr lang="en-US" sz="1600" b="1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Google</a:t>
            </a:r>
            <a:r>
              <a:rPr lang="en-US" altLang="zh-CN" sz="16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/</a:t>
            </a:r>
            <a:r>
              <a:rPr lang="en-US" sz="1600" b="1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Meta</a:t>
            </a:r>
            <a:r>
              <a:rPr lang="en-US" altLang="zh-CN" sz="16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/</a:t>
            </a:r>
            <a:r>
              <a:rPr lang="en-US" sz="1600" b="1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TikTok</a:t>
            </a:r>
            <a:r>
              <a:rPr 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千万</a:t>
            </a:r>
            <a:r>
              <a:rPr 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美金级广告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预算</a:t>
            </a:r>
            <a:r>
              <a:rPr lang="zh-CN" altLang="en-US" sz="1600" b="1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，擅长控费比</a:t>
            </a:r>
            <a:r>
              <a:rPr lang="zh-CN" altLang="en-US" sz="16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同时高效放量</a:t>
            </a:r>
            <a:endParaRPr 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曾任职百亿跨境电商上市公司，从0-1打造垂直独立站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仅用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2个月快速突破月销400万+</a:t>
            </a:r>
            <a:endParaRPr 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精通谷歌/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Meta/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Tiktok</a:t>
            </a: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红人</a:t>
            </a: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社媒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联盟营销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/SEO</a:t>
            </a: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/PR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众筹</a:t>
            </a:r>
            <a:r>
              <a:rPr 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全渠道流量协同放大</a:t>
            </a:r>
            <a:r>
              <a:rPr lang="zh-CN" sz="1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流量置换高阶打法</a:t>
            </a:r>
            <a:r>
              <a:rPr lang="en-US" sz="1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3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课程亮点：</a:t>
            </a:r>
            <a:endParaRPr lang="en-US" altLang="zh-CN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亿级操盘手亲授： 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拆解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0→1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亿→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亿可复制的增长路径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，让规模化增长更有确定性</a:t>
            </a:r>
            <a:endParaRPr lang="zh-CN" altLang="en-US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全链路增长重塑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 从拉新、放量、转化、复购，在漏斗每一层找到增长点</a:t>
            </a:r>
            <a:endParaRPr lang="zh-CN" altLang="en-US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拆解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Meta/Google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最新算法逻辑与应对策略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，实现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ROI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可控的健康放量</a:t>
            </a:r>
            <a:endParaRPr lang="zh-CN" altLang="en-US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Google/Meta/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联盟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/KOL/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社媒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/SEO/EDM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全渠道组合拳打法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，打通付费与自然流量闭环</a:t>
            </a:r>
            <a:endParaRPr lang="zh-CN" altLang="en-US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揭秘 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人团队操盘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亿体量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DTC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独立站的极简团队架构</a:t>
            </a:r>
            <a:endParaRPr lang="zh-CN" altLang="en-US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拆解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大卖内部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工作流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SOP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，提升图片、文案、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SEO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、视频产出效率</a:t>
            </a:r>
            <a:endParaRPr lang="zh-CN" altLang="en-US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实战案例深度拆解（覆盖服装、美妆、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3C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等多个品类）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服装独立站从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年销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50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万到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500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万美金的销售规划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与落地方案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一年从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亿到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亿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3C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品类独立站广告进化的完整打法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亿大卖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“社媒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红人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邮件营销”创新打法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，引爆增长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美妆头部品牌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0-5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亿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的增长方案拆解 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美国本土</a:t>
            </a:r>
            <a:r>
              <a:rPr 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DTC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0-10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亿的品牌方案拆解及对比 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endParaRPr lang="zh-CN" altLang="en-US" sz="17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66406"/>
          <a:stretch>
            <a:fillRect/>
          </a:stretch>
        </p:blipFill>
        <p:spPr>
          <a:xfrm>
            <a:off x="-635" y="0"/>
            <a:ext cx="2221230" cy="33585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7795" y="5981065"/>
            <a:ext cx="208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感兴趣的扫码咨询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3" name="图片 2" descr="邓邓企业微信二维码（精简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3945890"/>
            <a:ext cx="1856105" cy="1850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51075" y="2986107"/>
            <a:ext cx="9071274" cy="3452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核心解决以下痛点</a:t>
            </a:r>
            <a:endParaRPr lang="en-US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Symbol" panose="05050102010706020507" pitchFamily="2" charset="2"/>
              <a:buChar char=""/>
            </a:pP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独立站盈利尚可，但不清楚还有多少增长空间，规模和利润的最佳平衡点在哪</a:t>
            </a:r>
            <a:endParaRPr lang="zh-CN" altLang="en-US" sz="19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Symbol" panose="05050102010706020507" pitchFamily="2" charset="2"/>
              <a:buChar char=""/>
            </a:pPr>
            <a:r>
              <a:rPr lang="zh-CN" altLang="en-US" sz="19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年度销售目标翻倍</a:t>
            </a: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，不知该如何执行落地，拉新、复购、各个渠道如何配比</a:t>
            </a:r>
            <a:endParaRPr lang="en-US" altLang="zh-CN" sz="19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Symbol" panose="05050102010706020507" pitchFamily="2" charset="2"/>
              <a:buChar char=""/>
            </a:pPr>
            <a:r>
              <a:rPr 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Google</a:t>
            </a: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Meta</a:t>
            </a: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广告加预算，</a:t>
            </a:r>
            <a:r>
              <a:rPr lang="zh-CN" altLang="en-US" sz="19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一扩量就亏，</a:t>
            </a:r>
            <a:r>
              <a:rPr lang="en-US" sz="19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ROI</a:t>
            </a:r>
            <a:r>
              <a:rPr lang="zh-CN" altLang="en-US" sz="19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越跑越差</a:t>
            </a:r>
            <a:endParaRPr lang="zh-CN" altLang="en-US" sz="1900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Symbol" panose="05050102010706020507" pitchFamily="2" charset="2"/>
              <a:buChar char=""/>
            </a:pP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算法频繁调整，谷歌</a:t>
            </a:r>
            <a:r>
              <a:rPr lang="en-US" altLang="zh-CN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Meta Advantage+</a:t>
            </a: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时代，</a:t>
            </a:r>
            <a:r>
              <a:rPr lang="zh-CN" altLang="en-US" sz="19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广告数据下滑如何提升</a:t>
            </a:r>
            <a:endParaRPr lang="en-US" altLang="zh-CN" sz="1900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Symbol" panose="05050102010706020507" pitchFamily="2" charset="2"/>
              <a:buChar char=""/>
            </a:pPr>
            <a:r>
              <a:rPr lang="zh-CN" altLang="en-US" sz="19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社媒、联盟营销、</a:t>
            </a:r>
            <a:r>
              <a:rPr lang="en-US" sz="19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KOL</a:t>
            </a:r>
            <a:r>
              <a:rPr lang="zh-CN" altLang="en-US" sz="19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等渠道引流乏力</a:t>
            </a: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，如何提升</a:t>
            </a:r>
            <a:endParaRPr lang="zh-CN" altLang="en-US" sz="19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l"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Symbol" panose="05050102010706020507" pitchFamily="2" charset="2"/>
              <a:buChar char=""/>
            </a:pPr>
            <a:r>
              <a:rPr lang="en-US" altLang="zh-CN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EDM</a:t>
            </a: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营销不活跃，</a:t>
            </a:r>
            <a:r>
              <a:rPr lang="zh-CN" altLang="en-US" sz="19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客户复购率低</a:t>
            </a:r>
            <a:endParaRPr lang="en-US" altLang="zh-CN" sz="1900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l"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Symbol" panose="05050102010706020507" pitchFamily="2" charset="2"/>
              <a:buChar char=""/>
            </a:pPr>
            <a:r>
              <a:rPr lang="en-US" sz="1900" kern="1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SEO增长</a:t>
            </a:r>
            <a:r>
              <a:rPr lang="zh-CN" altLang="en-US" sz="19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</a:t>
            </a: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、自然流量占比长期上不去</a:t>
            </a:r>
            <a:endParaRPr lang="zh-CN" altLang="en-US" sz="19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8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3978" y="171738"/>
            <a:ext cx="1418364" cy="4378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51075" y="808886"/>
            <a:ext cx="9071274" cy="2304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适合人群</a:t>
            </a:r>
            <a:endParaRPr lang="en-US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Symbol" panose="05050102010706020507" pitchFamily="2" charset="2"/>
              <a:buChar char=""/>
            </a:pP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寻求增长突破的独立站操盘手</a:t>
            </a:r>
            <a:endParaRPr lang="zh-CN" altLang="en-US" sz="19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l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Symbol" panose="05050102010706020507" pitchFamily="2" charset="2"/>
              <a:buChar char=""/>
            </a:pP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想健康放量、稳定费比的广告负责人</a:t>
            </a:r>
            <a:endParaRPr lang="zh-CN" altLang="en-US" sz="19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l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Symbol" panose="05050102010706020507" pitchFamily="2" charset="2"/>
              <a:buChar char=""/>
            </a:pP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追求利润提升、优化运营链路的网站负责人</a:t>
            </a:r>
            <a:endParaRPr lang="zh-CN" altLang="en-US" sz="19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l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Symbol" panose="05050102010706020507" pitchFamily="2" charset="2"/>
              <a:buChar char=""/>
            </a:pPr>
            <a:r>
              <a:rPr lang="zh-CN" altLang="en-US" sz="1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正在从“卖货”向“品牌”转型的卖家</a:t>
            </a:r>
            <a:endParaRPr lang="zh-CN" altLang="en-US" sz="19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l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Symbol" panose="05050102010706020507" pitchFamily="2" charset="2"/>
              <a:buChar char=""/>
            </a:pPr>
            <a:endParaRPr lang="zh-CN" altLang="en-US" sz="19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2220889" y="0"/>
            <a:ext cx="9013168" cy="78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线下课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独立站操盘手高阶课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全渠道组合打法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销量倍增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66406"/>
          <a:stretch>
            <a:fillRect/>
          </a:stretch>
        </p:blipFill>
        <p:spPr>
          <a:xfrm>
            <a:off x="-635" y="0"/>
            <a:ext cx="2221230" cy="33585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7795" y="5981065"/>
            <a:ext cx="208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感兴趣的扫码咨询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2" name="图片 1" descr="邓邓企业微信二维码（精简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" y="3830320"/>
            <a:ext cx="2069465" cy="20631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4" name="Group 23"/>
          <p:cNvGrpSpPr>
            <a:grpSpLocks noGrp="1" noRot="1" noChangeAspect="1" noMove="1" noResize="1" noUngrp="1"/>
          </p:cNvGrpSpPr>
          <p:nvPr/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25" name="Freeform: Shape 24"/>
            <p:cNvSpPr/>
            <p:nvPr/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053641"/>
            <a:ext cx="3921707" cy="276009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亮点一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4000" b="1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案例精彩丰富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可复制落地性强</a:t>
            </a: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998" y="249860"/>
            <a:ext cx="1904879" cy="588083"/>
          </a:xfrm>
          <a:prstGeom prst="rect">
            <a:avLst/>
          </a:prstGeom>
        </p:spPr>
      </p:pic>
      <p:sp>
        <p:nvSpPr>
          <p:cNvPr id="13" name="Content Placeholder 2"/>
          <p:cNvSpPr txBox="1"/>
          <p:nvPr/>
        </p:nvSpPr>
        <p:spPr>
          <a:xfrm>
            <a:off x="5535001" y="251190"/>
            <a:ext cx="6548101" cy="6666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0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讲师是专业玩整合营销流量的，实战经验丰富，案例精彩</a:t>
            </a:r>
            <a:endParaRPr lang="en-US" altLang="zh-CN" sz="20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服装独立站：从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年销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万美金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的销售规划与落地方案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揭秘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人团队如何操盘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亿体量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DTC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独立站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一年从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，独立站广告进化的完整打法 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3C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头部品牌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，如何广告测新放量协同提效，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ROI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  <a:endParaRPr lang="en-US" altLang="zh-CN" sz="17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美国本土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亿大卖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“社媒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红人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邮件营销”创新打法，核销率高达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，引爆销售额增长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美妆头部品牌 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的增长方案拆解 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zh-CN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如何从业务端口倒退，设计出全局思维、高效落地的</a:t>
            </a:r>
            <a:r>
              <a:rPr lang="en-US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DTC</a:t>
            </a:r>
            <a:r>
              <a:rPr lang="zh-CN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放量模型</a:t>
            </a:r>
            <a:r>
              <a:rPr lang="zh-CN" altLang="en-US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6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 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美国本土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DTC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卖家 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的品牌方案拆解及对比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zh-CN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如何从市场端口出发，完美兼顾“品牌形象与卖货需求”，构建市场、运营双提效的整合营销方案</a:t>
            </a:r>
            <a:r>
              <a:rPr lang="zh-CN" altLang="en-US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）</a:t>
            </a:r>
            <a:endParaRPr lang="zh-CN" altLang="en-US" sz="16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7" y="29384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-1" y="1243013"/>
            <a:ext cx="4181791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亮点二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独立站</a:t>
            </a: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倍增长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目标落地规划拆解</a:t>
            </a: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181791" y="284070"/>
            <a:ext cx="8010209" cy="6573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操盘手的第一性原理：独立站全局布局与目标拆解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解决</a:t>
            </a:r>
            <a:r>
              <a:rPr lang="en-US" alt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"5000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万或更高销售目标到底合不合理</a:t>
            </a:r>
            <a:r>
              <a:rPr lang="en-US" alt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的战略迷茫 </a:t>
            </a: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独立站的本质：流量资产化（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品牌溢价化（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Margin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👉案例拆解：</a:t>
            </a:r>
            <a:r>
              <a:rPr lang="zh-CN" altLang="en-US" sz="16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一个服装类独立站从年销</a:t>
            </a:r>
            <a:r>
              <a:rPr lang="en-US" altLang="zh-CN" sz="16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50</a:t>
            </a:r>
            <a:r>
              <a:rPr lang="zh-CN" altLang="en-US" sz="16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万美金到</a:t>
            </a:r>
            <a:r>
              <a:rPr lang="en-US" altLang="zh-CN" sz="16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500</a:t>
            </a:r>
            <a:r>
              <a:rPr lang="zh-CN" altLang="en-US" sz="16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万美金的销售规划 </a:t>
            </a:r>
            <a:r>
              <a:rPr lang="en-US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pple Color Emoji" pitchFamily="2" charset="0"/>
              </a:rPr>
              <a:t>🔥</a:t>
            </a:r>
            <a:endParaRPr lang="zh-CN" altLang="en-US" sz="1600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（年度目标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月度目标、阶段性经营重点、广告预算与渠道分配、类目与产品结构拆解、节日营销计划、风险调整机制、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EDM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在营销与会员制、独立站品牌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KOL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与市场部协同）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全域流量生态位解析：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Google/Meta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等渠道的定位与健康配比，避免渠道单一依赖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财务模型计算：基于毛利、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（获客成本）与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LTV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（用户终身价值）倒推盈亏平衡点，让目标不再“拍脑袋”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团队架构的黄金比例：独立站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1-10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阶段，运营、推广、内容、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如何配置？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pple Color Emoji" pitchFamily="2" charset="0"/>
              </a:rPr>
              <a:t> </a:t>
            </a:r>
            <a:r>
              <a:rPr lang="zh-CN" altLang="en-US" sz="15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pple Color Emoji" pitchFamily="2" charset="0"/>
              </a:rPr>
              <a:t>  </a:t>
            </a:r>
            <a:r>
              <a:rPr lang="en-US" sz="15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👉</a:t>
            </a:r>
            <a:r>
              <a:rPr lang="zh-CN" altLang="en-US" sz="15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高能案例：</a:t>
            </a:r>
            <a:r>
              <a:rPr lang="en-US" sz="15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5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人团队如何操盘</a:t>
            </a:r>
            <a:r>
              <a:rPr lang="en-US" sz="15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15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亿体量</a:t>
            </a:r>
            <a:r>
              <a:rPr lang="en-US" sz="15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DTC</a:t>
            </a:r>
            <a:r>
              <a:rPr lang="zh-CN" altLang="en-US" sz="15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独立站？</a:t>
            </a:r>
            <a:r>
              <a:rPr lang="en-US" sz="15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r>
              <a:rPr lang="zh-CN" altLang="en-US" sz="15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揭秘极简架构下的最高人效逻辑 </a:t>
            </a:r>
            <a:r>
              <a:rPr lang="en-US" sz="15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pple Color Emoji" pitchFamily="2" charset="0"/>
              </a:rPr>
              <a:t>🔥</a:t>
            </a:r>
            <a:endParaRPr lang="zh-CN" altLang="en-US" sz="1500" i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品牌故事如何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变现”：能直接拉升</a:t>
            </a:r>
            <a:r>
              <a:rPr 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GMV</a:t>
            </a:r>
            <a:r>
              <a:rPr 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与转化率的品牌故事，让内容不止于情怀</a:t>
            </a:r>
            <a:endParaRPr lang="en-US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pple Color Emoji" pitchFamily="2" charset="0"/>
              </a:rPr>
              <a:t>👉</a:t>
            </a:r>
            <a:r>
              <a:rPr lang="zh-CN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案例拆解：</a:t>
            </a:r>
            <a:r>
              <a:rPr lang="zh-CN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某</a:t>
            </a:r>
            <a:r>
              <a:rPr lang="en-US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</a:t>
            </a:r>
            <a:r>
              <a:rPr lang="zh-CN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亿大卖如何通过“活动营销</a:t>
            </a:r>
            <a:r>
              <a:rPr lang="en-US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KOL</a:t>
            </a:r>
            <a:r>
              <a:rPr lang="zh-CN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联动”，引爆销售额增长</a:t>
            </a:r>
            <a:r>
              <a:rPr lang="zh-CN" altLang="en-US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pple Color Emoji" pitchFamily="2" charset="0"/>
              </a:rPr>
              <a:t>🔥</a:t>
            </a:r>
            <a:endParaRPr lang="en-US" sz="1600" i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16125" y="21590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4251366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亮点三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Google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放量提效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旺季打法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291189" y="215900"/>
            <a:ext cx="8306235" cy="664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Google Ads 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高阶：从“买点击”到“买转化”的精密策略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解决谷歌广告</a:t>
            </a:r>
            <a:r>
              <a:rPr lang="en-US" alt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ROI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不理想，扩量效果差等核心痛点</a:t>
            </a: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底层逻辑：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Google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算法的“喂养”与“反噬”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谷歌广告正在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盲盒化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 Max for Search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时代如何应对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en-US" altLang="zh-CN" sz="16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PMax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提效与大卖扩量实战技巧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进阶喂养策略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如何合理设置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广告组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广告提效逻辑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利用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Shopify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数据，让冷启动效率翻倍的方法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搜索广告提效：关键词的“降维打击”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拦截竞对与关联场景挖掘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掌握对投技巧，在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有保障的前提下科学扩量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数据分析与归因分析：找到“隐形转化”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GA4</a:t>
            </a:r>
            <a:r>
              <a:rPr 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</a:t>
            </a:r>
            <a:r>
              <a:rPr 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Google ROI </a:t>
            </a:r>
            <a:r>
              <a:rPr 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很低，但停了广告总单量就掉怎么办？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-&gt;</a:t>
            </a:r>
            <a:r>
              <a:rPr 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学会拆解流量归属源，掌握</a:t>
            </a:r>
            <a:r>
              <a:rPr 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DDA</a:t>
            </a:r>
            <a:r>
              <a:rPr 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等归因逻辑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谷歌广告旺季打法：动态预算分配，让每一分钱都花在流量爆点上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pple Color Emoji" pitchFamily="2" charset="0"/>
              </a:rPr>
              <a:t>    </a:t>
            </a:r>
            <a:r>
              <a:rPr lang="en-US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pple Color Emoji" pitchFamily="2" charset="0"/>
              </a:rPr>
              <a:t>👉</a:t>
            </a:r>
            <a:r>
              <a:rPr lang="zh-CN" sz="16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增长案例：</a:t>
            </a:r>
            <a:r>
              <a:rPr lang="zh-CN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一年从</a:t>
            </a:r>
            <a:r>
              <a:rPr lang="en-US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亿到</a:t>
            </a:r>
            <a:r>
              <a:rPr lang="en-US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亿，独立站广告进化的完整打法 </a:t>
            </a:r>
            <a:r>
              <a:rPr lang="en-US" sz="1600" b="1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pple Color Emoji" pitchFamily="2" charset="0"/>
              </a:rPr>
              <a:t>🔥</a:t>
            </a:r>
            <a:endParaRPr lang="en-US" sz="1600" b="1" i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Meta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测新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放量协同，</a:t>
            </a:r>
            <a:b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ROI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提升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倍</a:t>
            </a:r>
            <a:endParaRPr 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421954" y="373816"/>
            <a:ext cx="7650177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Meta 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广告：素材驱动的爆发式增量投放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解决</a:t>
            </a:r>
            <a:r>
              <a:rPr lang="en-US" alt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 Meta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算法逻辑重构下的扩量难、广告提效问题 </a:t>
            </a: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Meta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广告逻辑进化史 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&amp; 2026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广告提效新思路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Advantage+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购物到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Advantage+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受众，再到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2026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年的“描述受众”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-&gt;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算法全面接管时代，如何精准获客、扩量同时保持高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应对算法重构：实现“素材即受众”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拆解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2026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最新算法逻辑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，教你设计“精准钓鱼”素材，让算法为你服务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实操讲解：如何科学测试“描述受众”，快速验证模型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案例拆解：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头部品牌广告测新放量协同提效，实现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ROI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提升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倍 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 AI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提效辅助：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大卖内部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Skill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管理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工作流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SOP 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如何提升图片、文字、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、视频产出效率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38826" y="5153890"/>
            <a:ext cx="7650177" cy="15527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Eren说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虽然</a:t>
            </a:r>
            <a:r>
              <a:rPr lang="en-US" altLang="zh-CN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Meta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广告上手简单，但很多人投不起来量。</a:t>
            </a:r>
            <a:endParaRPr lang="en-US" altLang="zh-CN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我将分享如何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Meta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平台采用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算法，趋于“盲盒化”的情况下能做到高消耗，高</a:t>
            </a:r>
            <a:r>
              <a:rPr lang="en-US" altLang="zh-CN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ROI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成功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扩量。</a:t>
            </a:r>
            <a:endParaRPr lang="en-US" altLang="zh-CN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亮点五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KOL-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私域流量池，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提升效率</a:t>
            </a: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2-3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倍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338827" y="-291336"/>
            <a:ext cx="7650177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KOL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营销：从“一次性投放”到“私有流量池”</a:t>
            </a:r>
            <a:endParaRPr lang="en-US" altLang="zh-CN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解决 </a:t>
            </a:r>
            <a:r>
              <a:rPr lang="en-US" alt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KOL 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开发难、回复率低、无法追踪 </a:t>
            </a:r>
            <a:r>
              <a:rPr lang="en-US" alt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ROI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的痛点 </a:t>
            </a: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YouTube/Ins/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TikTok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曝光位深度拆解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三大主流平台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KOL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合作策略：如何结合自身的品类选平台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 KOL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合作的完整流程与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：开发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沟通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执行，让流程标准化、可复制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KOL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合作过程中的关键注意点与实战技巧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量化思维应用，如何通过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量化的把控红人开发能效，提升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2-3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倍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 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6.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流量思维应用，大卖如何最大效率的建立高粘性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KOL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合作，长期收割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KOL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流量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（案例讲解）</a:t>
            </a:r>
            <a:endParaRPr lang="zh-CN" altLang="en-US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38826" y="4125458"/>
            <a:ext cx="7650177" cy="21120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Eren说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很多人反馈每次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和红人合作就是一次性的，算上送样成本、人力成本、佣金和广告费，对比实际出单结果，整体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ROI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不高。</a:t>
            </a: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我会分享一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种能把红人一次性投放，变成长期合作、</a:t>
            </a:r>
            <a:r>
              <a:rPr lang="zh-CN" altLang="en-US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持续收割红人流量的方法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，让大家可以自我把控、放大</a:t>
            </a:r>
            <a:r>
              <a:rPr lang="en-US" altLang="zh-CN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倍出单效果，构建自己的</a:t>
            </a:r>
            <a:r>
              <a:rPr lang="zh-CN" altLang="en-US" sz="17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“私有流量池”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六：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玩好社媒运营，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助力产品种草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185121" y="20511"/>
            <a:ext cx="7650177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社媒运营：从“传统经营”到“兴趣电商”</a:t>
            </a:r>
            <a:endParaRPr lang="en-US" altLang="zh-CN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解决非广告流量占比低、过度依赖广告的瓶颈 </a:t>
            </a: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平台逻辑差异：从消费供需到兴趣触发，搞懂算法，才能驾驭流量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兴趣电商模型：从爆品到品牌沉淀，如何让用户“上头”？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用户代际差异：从理性消费到感性共鸣，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世代到底为什么买单？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社媒运营的真实目的与工作原理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TikTok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新账号起号标准化操作流程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思维扩展：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让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TK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发挥更大用途，扛下销售目标 </a:t>
            </a:r>
            <a:r>
              <a:rPr 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38826" y="4125458"/>
            <a:ext cx="7650177" cy="21120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Eren说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相比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IG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7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Youtube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7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TikTok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起量的成本相对较低， 我会讲解如何提升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TK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的带货销量。如何从网红开发精细化管理，如何提升红人产出内容质量。</a:t>
            </a: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从红人复盘、考察维度、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brief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梳理，我会给到一套成形模版供大家参考，提升红人产出效率！</a:t>
            </a:r>
            <a:endParaRPr lang="en-US" altLang="zh-CN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七：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EDM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联动激活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高核销率创新打法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185121" y="20511"/>
            <a:ext cx="8006879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EDM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营销：激活用户，让复购“自动发生”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解决复购率低、</a:t>
            </a:r>
            <a:r>
              <a:rPr lang="en-US" alt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EDM 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活跃度低的问题 </a:t>
            </a: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三大关键邮件营销自动化流设计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邮件内容的“爆款”逻辑与虚荣心植入技巧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EDM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收集方式提效及邮箱核销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众筹式打法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👉案例拆解：</a:t>
            </a:r>
            <a:r>
              <a:rPr lang="zh-CN" altLang="en-US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美国本土</a:t>
            </a:r>
            <a:r>
              <a:rPr lang="en-US" altLang="zh-CN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40</a:t>
            </a:r>
            <a:r>
              <a:rPr lang="zh-CN" altLang="en-US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亿大卖“社媒</a:t>
            </a:r>
            <a:r>
              <a:rPr lang="en-US" altLang="zh-CN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红人</a:t>
            </a:r>
            <a:r>
              <a:rPr lang="en-US" altLang="zh-CN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邮件营销”创新打法，</a:t>
            </a:r>
            <a:r>
              <a:rPr lang="zh-CN" altLang="en-US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核销率</a:t>
            </a:r>
            <a:r>
              <a:rPr lang="zh-CN" altLang="en-US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达</a:t>
            </a:r>
            <a:r>
              <a:rPr lang="en-US" altLang="zh-CN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30%</a:t>
            </a:r>
            <a:r>
              <a:rPr lang="en-US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i="1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38826" y="4125458"/>
            <a:ext cx="7650177" cy="21120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Eren说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很多卖家的</a:t>
            </a:r>
            <a:r>
              <a:rPr lang="en-US" altLang="zh-CN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EDM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玩法比较单一，缺少创意，其实</a:t>
            </a:r>
            <a:r>
              <a:rPr lang="en-US" altLang="zh-CN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EDM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是非常好的复购渠道。</a:t>
            </a:r>
            <a:endParaRPr lang="en-US" altLang="zh-CN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我将分享一个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美国本土大卖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的案例，他们的打法方式很创新，能充分利用消费者的虚荣心理，让客户愿意打开邮件、在社媒上传播活动，硬是把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EDM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核销率拉升到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30%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（国内行业头部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3C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大卖的核销率也只有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10%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希望能给大家更多的思路灵感</a:t>
            </a:r>
            <a:endParaRPr lang="en-US" altLang="zh-CN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八：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SEO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双螺旋引擎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实现可视化增长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277289" y="-258679"/>
            <a:ext cx="7914711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SEO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：从“玄学”到“可计算的增长工程”</a:t>
            </a:r>
            <a:endParaRPr lang="en-US" altLang="zh-CN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解决</a:t>
            </a:r>
            <a:r>
              <a:rPr lang="en-US" alt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SEO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效果慢、增长不可控的问题 </a:t>
            </a: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理解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SEO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的双螺旋增长原理及本质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GEO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的看法和趋势分析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站内优化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如何构建强大的权重载体（提升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外部链接建设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如何获取强大的排名推力（提升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），如何获得大量真正有效果的外链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量化思维应用，如何衡量及把控提升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的优化效果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zh-CN" altLang="en-US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现场实操：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如何做博客和外链，实现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SEO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可视化增长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38826" y="4232334"/>
            <a:ext cx="7650177" cy="23079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Eren说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SEO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是一个能产生复利的流量渠道，成本低、能长期沉淀。如果做的好，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个月就能有成效，</a:t>
            </a:r>
            <a:r>
              <a:rPr lang="zh-CN" altLang="en-US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有流量、能连续出单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但市面上大部分把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SEO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说的很玄学、不能保证效果，我想要把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SEO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给大家讲明白，让你知道如何评估某个内链、某个外链，是否真的有效果，让增长可视化，让一切动作的结果可视化、可量化。避免成本浪费，避免错失机会！</a:t>
            </a: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九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联盟营销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高效放量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组合打法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359292" y="0"/>
            <a:ext cx="7832708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联盟营销：旺季从“曝光补位”到“放量核心”</a:t>
            </a:r>
            <a:endParaRPr lang="en-US" altLang="zh-CN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解决联盟营销没产出、</a:t>
            </a:r>
            <a:r>
              <a:rPr lang="en-US" alt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GMV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占比过低等痛点 </a:t>
            </a: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DTC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联盟生态图谱：从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Deals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的五大类型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联盟策略的推广节奏：如何规划实现声量到转化的双丰收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如何找到并锁定真正可放量的优质联盟伙伴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联盟营销的高阶协同：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与站内、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KOL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SEO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的联动打法，从单点联盟到放量系统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联盟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衡量与优化策略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如何主动量化预期效果，开发联盟并提升联盟效率 🔥</a:t>
            </a:r>
            <a:endParaRPr lang="zh-CN" altLang="en-US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38826" y="4702629"/>
            <a:ext cx="7679003" cy="18472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Eren说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有些卖家做联盟营销，出单效果不佳，效率不高，因为玩法太单一。其实一些大卖联盟营销的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GMV</a:t>
            </a:r>
            <a:r>
              <a:rPr lang="zh-CN" altLang="en-US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占比能达到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我会分享一套联盟营销的高阶组合打法，</a:t>
            </a:r>
            <a:r>
              <a:rPr lang="zh-CN" altLang="en-US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联盟如何与站内、</a:t>
            </a:r>
            <a:r>
              <a:rPr lang="en-US" altLang="zh-CN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</a:t>
            </a:r>
            <a:r>
              <a:rPr lang="zh-CN" altLang="en-US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KOL</a:t>
            </a:r>
            <a:r>
              <a:rPr lang="zh-CN" altLang="en-US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SEO</a:t>
            </a:r>
            <a:r>
              <a:rPr lang="zh-CN" altLang="en-US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联动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，形成排名、声量、订单同步上升的效果。</a:t>
            </a: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29956" y="29384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4028086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亮点十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重磅案例拆解：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0-10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亿品牌增长方案</a:t>
            </a:r>
            <a:endParaRPr 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181792" y="124673"/>
            <a:ext cx="7650177" cy="19772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运营核心：如何设计整合运营方案，实现大幅提效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👉</a:t>
            </a:r>
            <a:r>
              <a:rPr lang="zh-CN" altLang="en-US" sz="18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案例拆解：</a:t>
            </a:r>
            <a:r>
              <a:rPr lang="zh-CN" altLang="en-US" sz="18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美妆类头部品牌从</a:t>
            </a:r>
            <a:r>
              <a:rPr lang="en-US" altLang="zh-CN" sz="18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0-5</a:t>
            </a:r>
            <a:r>
              <a:rPr lang="zh-CN" altLang="en-US" sz="18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亿的增长方案拆解 </a:t>
            </a:r>
            <a:r>
              <a:rPr lang="en-US" sz="18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（如何从业务端口倒退，设计出全局思维、高效落地的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DTC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放量模型）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38827" y="4021572"/>
            <a:ext cx="7496471" cy="23174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Eren说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许多卖家在追求增长时，过度强调品牌曝光，却忽略了利润。其实只要设计得当，完全可以在放量与利润、品牌打造与卖货之间找到平衡。而这背后，需要的是一套逻辑闭环、以终为始的整合营销方案。</a:t>
            </a:r>
            <a:endParaRPr lang="zh-CN" altLang="en-US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我将通过两个经典案例，带大家掌握整合营销方案的精髓。</a:t>
            </a:r>
            <a:endParaRPr lang="zh-CN" altLang="en-US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4181792" y="1847798"/>
            <a:ext cx="7650177" cy="19772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品牌搭建与</a:t>
            </a: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GMV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达成：独立站长远优势的护城河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👉</a:t>
            </a:r>
            <a:r>
              <a:rPr lang="zh-CN" altLang="en-US" sz="18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案例拆解：</a:t>
            </a:r>
            <a:r>
              <a:rPr lang="zh-CN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美国本土</a:t>
            </a:r>
            <a:r>
              <a:rPr lang="en-US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DTC</a:t>
            </a:r>
            <a:r>
              <a:rPr lang="zh-CN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大卖</a:t>
            </a:r>
            <a:r>
              <a:rPr lang="en-US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0-10</a:t>
            </a:r>
            <a:r>
              <a:rPr lang="zh-CN" sz="18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亿的品牌方案拆解及对比</a:t>
            </a:r>
            <a:r>
              <a:rPr 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8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（如何从市场端口出发，完美兼顾“品牌形象与卖货需求”，构建市场、运营双提效的整合营销方案）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998" y="249860"/>
            <a:ext cx="1904879" cy="58808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3124" y="670080"/>
            <a:ext cx="117088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配套资料分享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：服装独立站从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50W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500W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美金销售规划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ular Callout 9"/>
          <p:cNvSpPr/>
          <p:nvPr/>
        </p:nvSpPr>
        <p:spPr>
          <a:xfrm>
            <a:off x="483125" y="1509931"/>
            <a:ext cx="4065124" cy="4995539"/>
          </a:xfrm>
          <a:prstGeom prst="wedgeRectCallout">
            <a:avLst>
              <a:gd name="adj1" fmla="val 61052"/>
              <a:gd name="adj2" fmla="val -525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2420"/>
              </a:lnSpc>
              <a:spcBef>
                <a:spcPts val="200"/>
              </a:spcBef>
              <a:spcAft>
                <a:spcPts val="20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独立站卖家要实现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大幅增长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达成年度目标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，需将目标合理拆解到月份、产品与渠道，并据此规划预算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供应链，在执行中结合实际数据不断纠偏调优。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20"/>
              </a:lnSpc>
              <a:spcBef>
                <a:spcPts val="200"/>
              </a:spcBef>
              <a:spcAft>
                <a:spcPts val="20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为此，分享一份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服装独立站从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万到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万的完整销售规划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2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年度目标与月度目标拆解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2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阶段性经营重点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2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广告预算与渠道分配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2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类目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与产品结构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2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节日营销计划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2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风险调整机制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2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EDM再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营销与会员体系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2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独立站品牌</a:t>
            </a:r>
            <a:r>
              <a:rPr 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KOL与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市场部协同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887" y="1644476"/>
            <a:ext cx="6744989" cy="48609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998" y="249860"/>
            <a:ext cx="1904879" cy="58808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3124" y="670080"/>
            <a:ext cx="117088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配套资料分享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KOL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SEO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外链工作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SOP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飞书文档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表格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ular Callout 9"/>
          <p:cNvSpPr/>
          <p:nvPr/>
        </p:nvSpPr>
        <p:spPr>
          <a:xfrm>
            <a:off x="483125" y="1509931"/>
            <a:ext cx="3671117" cy="2373299"/>
          </a:xfrm>
          <a:prstGeom prst="wedgeRectCallout">
            <a:avLst>
              <a:gd name="adj1" fmla="val 72351"/>
              <a:gd name="adj2" fmla="val -1523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242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大体量红人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，我们需要一个完整的项目来配合整体的流程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20"/>
              </a:lnSpc>
            </a:pP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为此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分享一份</a:t>
            </a:r>
            <a:r>
              <a:rPr 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KOL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合作的完整流程与</a:t>
            </a:r>
            <a:r>
              <a:rPr 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SOP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，包含：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2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具体活动方案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（达人分层合作、活动创意玩法、达人资料包、活动时间线）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2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数据追踪、汇报和复盘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648" y="1258163"/>
            <a:ext cx="6194484" cy="31545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3786926"/>
            <a:ext cx="6949187" cy="2821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ular Callout 11"/>
          <p:cNvSpPr/>
          <p:nvPr/>
        </p:nvSpPr>
        <p:spPr>
          <a:xfrm>
            <a:off x="483123" y="4168025"/>
            <a:ext cx="3269479" cy="1840890"/>
          </a:xfrm>
          <a:prstGeom prst="wedgeRectCallout">
            <a:avLst>
              <a:gd name="adj1" fmla="val 72351"/>
              <a:gd name="adj2" fmla="val -1523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232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电商做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的目的是流量获得，但很多人把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玄学化了，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2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Eren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老师会结合表格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现场讲解如何审核量化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SEO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，让博客和外链工作，成为可计算的增长工程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5228</Words>
  <Application>WPS 演示</Application>
  <PresentationFormat>Widescreen</PresentationFormat>
  <Paragraphs>228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Times New Roman</vt:lpstr>
      <vt:lpstr>Segoe UI</vt:lpstr>
      <vt:lpstr>Symbol</vt:lpstr>
      <vt:lpstr>Apple Color Emoji</vt:lpstr>
      <vt:lpstr>Segoe Print</vt:lpstr>
      <vt:lpstr>Microsoft YaHei UI</vt:lpstr>
      <vt:lpstr>等线</vt:lpstr>
      <vt:lpstr>Calibri</vt:lpstr>
      <vt:lpstr>Arial Unicode MS</vt:lpstr>
      <vt:lpstr>Calibri Light</vt:lpstr>
      <vt:lpstr>Office Theme</vt:lpstr>
      <vt:lpstr>PowerPoint 演示文稿</vt:lpstr>
      <vt:lpstr>PowerPoint 演示文稿</vt:lpstr>
      <vt:lpstr>亮点一： 案例精彩丰富， 可复制落地性强🔥</vt:lpstr>
      <vt:lpstr>亮点二： 独立站10倍增长 目标落地规划拆解🔥</vt:lpstr>
      <vt:lpstr>亮点三： Google广告 放量提效&amp;旺季打法🔥</vt:lpstr>
      <vt:lpstr>亮点四： Meta广告 测新放量协同， ROI提升8倍</vt:lpstr>
      <vt:lpstr>亮点五： KOL-私域流量池， 提升效率2-3倍</vt:lpstr>
      <vt:lpstr>亮点六： 玩好社媒运营， 助力产品种草</vt:lpstr>
      <vt:lpstr>亮点七： EDM联动激活 高核销率创新打法</vt:lpstr>
      <vt:lpstr>亮点八： SEO双螺旋引擎 实现可视化增长</vt:lpstr>
      <vt:lpstr>亮点九： 联盟营销 高效放量组合打法</vt:lpstr>
      <vt:lpstr>亮点十： 重磅案例拆解： 0-10亿品牌增长方案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Ruize Sun</dc:creator>
  <cp:lastModifiedBy>Arna</cp:lastModifiedBy>
  <cp:revision>116</cp:revision>
  <dcterms:created xsi:type="dcterms:W3CDTF">2024-06-27T15:52:00Z</dcterms:created>
  <dcterms:modified xsi:type="dcterms:W3CDTF">2026-03-22T10:41:52Z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C44AE62ACFA74AFFA80409D181BDD142_13</vt:lpwstr>
  </property>
</Properties>
</file>